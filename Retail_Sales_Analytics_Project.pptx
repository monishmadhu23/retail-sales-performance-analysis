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9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B464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0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East</c:v>
                </c:pt>
                <c:pt idx="2">
                  <c:v>North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3558000</c:v>
                </c:pt>
                <c:pt idx="1">
                  <c:v>2717000</c:v>
                </c:pt>
                <c:pt idx="2">
                  <c:v>1501000</c:v>
                </c:pt>
                <c:pt idx="3">
                  <c:v>1003000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56-4553-A83E-264E0DB9A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E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6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5E-46FC-B16C-A35806152D77}"/>
              </c:ext>
            </c:extLst>
          </c:dPt>
          <c:dPt>
            <c:idx val="1"/>
            <c:bubble3D val="0"/>
            <c:spPr>
              <a:solidFill>
                <a:srgbClr val="3E8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5E-46FC-B16C-A35806152D77}"/>
              </c:ext>
            </c:extLst>
          </c:dPt>
          <c:dPt>
            <c:idx val="2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5E-46FC-B16C-A35806152D7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5E-46FC-B16C-A35806152D7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5E-46FC-B16C-A35806152D7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95E-46FC-B16C-A35806152D7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Accessories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5463000</c:v>
                </c:pt>
                <c:pt idx="1">
                  <c:v>2959000</c:v>
                </c:pt>
                <c:pt idx="2">
                  <c:v>357000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95E-46FC-B16C-A35806152D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27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0E5850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754880"/>
            <a:ext cx="4023360" cy="4023360"/>
          </a:xfrm>
          <a:prstGeom prst="ellipse">
            <a:avLst/>
          </a:prstGeom>
          <a:ln w="19050">
            <a:solidFill>
              <a:srgbClr val="2F6E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 Performance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Dashboard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249 raw transaction records into a clean, analysis-ready dataset and an interactive Power BI dashboard — using Excel, SQL, Python and Power BI.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6177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22960" y="51389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54680" y="46177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154680" y="51389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COVERED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0" y="46177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486400" y="51389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18120" y="461772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818120" y="51389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INTEGRATED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5989320"/>
            <a:ext cx="4114800" cy="0"/>
          </a:xfrm>
          <a:prstGeom prst="line">
            <a:avLst/>
          </a:prstGeom>
          <a:noFill/>
          <a:ln w="12700">
            <a:solidFill>
              <a:srgbClr val="2F6E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Monish Madhu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6419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Portfolio Project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generate large volumes of transactional data, but without structured analysis, the insights hidden inside it stay locked away. This project builds a complete pipeline — from messy raw records to a decision-ready dashboard — to answer four core business questions.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788920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7" name="Image 0" descr="/home/claude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293632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5204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Top-Selling Products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41248" y="4206240"/>
            <a:ext cx="22037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drive the most revenue, and which underperform?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75888" y="2788920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2" name="Image 1" descr="/home/claude/icons/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3289" y="293632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35204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Highest-Revenue Region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21024" y="4206240"/>
            <a:ext cx="22037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regions generate the strongest sales, and where is growth lagging?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99632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788920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7" name="Image 2" descr="/home/claude/icons/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065" y="293632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5204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0800" y="4206240"/>
            <a:ext cx="22037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revenue move across the year — where are the seasonal peaks and dips?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9408" y="251460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35440" y="2788920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22" name="Image 3" descr="/home/claude/icons/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841" y="293632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0576" y="3520440"/>
            <a:ext cx="22037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Behavior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80576" y="4206240"/>
            <a:ext cx="2203704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highest-value customers, and what patterns define their purchasing?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160520" cy="4617720"/>
          </a:xfrm>
          <a:prstGeom prst="roundRect">
            <a:avLst>
              <a:gd name="adj" fmla="val 1758"/>
            </a:avLst>
          </a:prstGeom>
          <a:solidFill>
            <a:srgbClr val="0B46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105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Tracked per Order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60120" y="2404872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768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2798064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67004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191256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632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Customer_Name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3584448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45643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3977640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8496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0120" y="4370832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24281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4764024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63600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" y="5157216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50292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0120" y="5550408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4223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60120" y="5943600"/>
            <a:ext cx="82296" cy="822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5815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Month / Quarter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74920" y="160020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7F1EF"/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1828800"/>
            <a:ext cx="502920" cy="502920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28" name="Image 0" descr="/home/claude/icons/col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279" y="1959559"/>
            <a:ext cx="241402" cy="24140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30352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303520" y="3017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183880" y="160020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7F1EF"/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12480" y="1828800"/>
            <a:ext cx="502920" cy="502920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33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239" y="1959559"/>
            <a:ext cx="241402" cy="24140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412480" y="2468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→ 15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8412480" y="3017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 COLUMNS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5074920" y="3841323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7F1EF"/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303520" y="4206240"/>
            <a:ext cx="502920" cy="502920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38" name="Image 2" descr="/home/claude/icons/reg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4279" y="4336999"/>
            <a:ext cx="241402" cy="24140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303520" y="4846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40" name="Text 35"/>
          <p:cNvSpPr/>
          <p:nvPr/>
        </p:nvSpPr>
        <p:spPr>
          <a:xfrm>
            <a:off x="5303520" y="5394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(E / W / N / S)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183880" y="388620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7F1EF"/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412480" y="4206240"/>
            <a:ext cx="502920" cy="502920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43" name="Image 3" descr="/home/claude/icons/calend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239" y="4336999"/>
            <a:ext cx="241402" cy="24140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8412480" y="48463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Dec 2023</a:t>
            </a:r>
            <a:endParaRPr lang="en-US" sz="2200" dirty="0"/>
          </a:p>
        </p:txBody>
      </p:sp>
      <p:sp>
        <p:nvSpPr>
          <p:cNvPr id="45" name="Text 39"/>
          <p:cNvSpPr/>
          <p:nvPr/>
        </p:nvSpPr>
        <p:spPr>
          <a:xfrm>
            <a:off x="8412480" y="5394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COVERED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5211192" y="5943600"/>
            <a:ext cx="55330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i="1" dirty="0">
              <a:solidFill>
                <a:srgbClr val="8A5A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i="1" dirty="0">
              <a:solidFill>
                <a:srgbClr val="8A5A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00" i="1" dirty="0">
              <a:solidFill>
                <a:srgbClr val="8A5A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b="1" i="1" dirty="0">
                <a:solidFill>
                  <a:srgbClr val="8A5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state: missing prices, blank categories, inconsistent region casing ("south " vs "South"), one order mis-dated into 2024, and duplicate rows — resolved during cleaning (see slide 6).</a:t>
            </a:r>
            <a:endParaRPr lang="en-US" sz="1600" b="1" dirty="0"/>
          </a:p>
        </p:txBody>
      </p:sp>
      <p:sp>
        <p:nvSpPr>
          <p:cNvPr id="48" name="Text 4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93392"/>
            <a:ext cx="621792" cy="621792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6" name="Image 0" descr="/home/claude/icons/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778" y="215505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889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3246120"/>
            <a:ext cx="220370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cleaning, formatting, and exploratory review of raw records before deeper analysis.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9856" y="169164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75888" y="1993392"/>
            <a:ext cx="621792" cy="621792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1" name="Image 1" descr="/home/claude/icons/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554" y="215505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21024" y="27889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621024" y="3246120"/>
            <a:ext cx="220370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database queries — aggregations, GROUP BY / HAVING, subqueries — for extraction and transformation.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99632" y="169164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55664" y="1993392"/>
            <a:ext cx="621792" cy="621792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6" name="Image 2" descr="/home/claude/icons/pyth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330" y="215505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7889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400800" y="3246120"/>
            <a:ext cx="220370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for deeper cleaning and grouped analysis; Matplotlib &amp; Seaborn for exploratory visualization.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79408" y="169164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0B4640"/>
          </a:solidFill>
          <a:ln/>
          <a:effectLst>
            <a:outerShdw blurRad="101600" dist="38100" dir="5400000" algn="bl" rotWithShape="0">
              <a:srgbClr val="1B2E29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1993392"/>
            <a:ext cx="621792" cy="62179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1" name="Image 3" descr="/home/claude/icons/power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7106" y="2155058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0576" y="2788920"/>
            <a:ext cx="22037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80576" y="3246120"/>
            <a:ext cx="220370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D9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Interactive, KPI-driven dashboard for exploration, filtering, and stakeholder-ready reporting.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linear, repeatable pipeline — each stage feeds the next, with data quality checked at every handoff.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8700" y="3451860"/>
            <a:ext cx="10149840" cy="0"/>
          </a:xfrm>
          <a:prstGeom prst="line">
            <a:avLst/>
          </a:prstGeom>
          <a:noFill/>
          <a:ln w="38100">
            <a:solidFill>
              <a:srgbClr val="D6E9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063240"/>
            <a:ext cx="777240" cy="777240"/>
          </a:xfrm>
          <a:prstGeom prst="ellipse">
            <a:avLst/>
          </a:prstGeom>
          <a:solidFill>
            <a:srgbClr val="0B4640"/>
          </a:solidFill>
          <a:ln w="38100">
            <a:solidFill>
              <a:srgbClr val="FBFAF7"/>
            </a:solidFill>
            <a:prstDash val="solid"/>
          </a:ln>
        </p:spPr>
      </p:sp>
      <p:pic>
        <p:nvPicPr>
          <p:cNvPr id="7" name="Image 0" descr="/home/claude/icons/col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8" y="32497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295351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" y="40416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0" y="4572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raw transactional data from source records.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2670048" y="3063240"/>
            <a:ext cx="777240" cy="777240"/>
          </a:xfrm>
          <a:prstGeom prst="ellipse">
            <a:avLst/>
          </a:prstGeom>
          <a:solidFill>
            <a:srgbClr val="0B4640"/>
          </a:solidFill>
          <a:ln w="38100">
            <a:solidFill>
              <a:srgbClr val="FBFAF7"/>
            </a:solidFill>
            <a:prstDash val="solid"/>
          </a:ln>
        </p:spPr>
      </p:sp>
      <p:pic>
        <p:nvPicPr>
          <p:cNvPr id="12" name="Image 1" descr="/home/claude/icons/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586" y="324977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91256" y="295351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167128" y="40416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029968" y="4572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in Excel &amp; Python to fix errors and gaps.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4700016" y="3063240"/>
            <a:ext cx="777240" cy="777240"/>
          </a:xfrm>
          <a:prstGeom prst="ellipse">
            <a:avLst/>
          </a:prstGeom>
          <a:solidFill>
            <a:srgbClr val="0B4640"/>
          </a:solidFill>
          <a:ln w="38100">
            <a:solidFill>
              <a:srgbClr val="FBFAF7"/>
            </a:solidFill>
            <a:prstDash val="solid"/>
          </a:ln>
        </p:spPr>
      </p:sp>
      <p:pic>
        <p:nvPicPr>
          <p:cNvPr id="17" name="Image 2" descr="/home/claude/icons/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554" y="3249778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21224" y="295351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197096" y="40416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Storage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059936" y="4572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load the dataset into a SQL database.</a:t>
            </a:r>
            <a:endParaRPr lang="en-US" sz="980" dirty="0"/>
          </a:p>
        </p:txBody>
      </p:sp>
      <p:sp>
        <p:nvSpPr>
          <p:cNvPr id="21" name="Shape 16"/>
          <p:cNvSpPr/>
          <p:nvPr/>
        </p:nvSpPr>
        <p:spPr>
          <a:xfrm>
            <a:off x="6729984" y="3063240"/>
            <a:ext cx="777240" cy="777240"/>
          </a:xfrm>
          <a:prstGeom prst="ellipse">
            <a:avLst/>
          </a:prstGeom>
          <a:solidFill>
            <a:srgbClr val="0B4640"/>
          </a:solidFill>
          <a:ln w="38100">
            <a:solidFill>
              <a:srgbClr val="FBFAF7"/>
            </a:solidFill>
            <a:prstDash val="solid"/>
          </a:ln>
        </p:spPr>
      </p:sp>
      <p:pic>
        <p:nvPicPr>
          <p:cNvPr id="22" name="Image 3" descr="/home/claude/icons/analy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6522" y="324977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51192" y="295351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227064" y="40416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6089904" y="4572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 SQL and analyze trends in Python.</a:t>
            </a:r>
            <a:endParaRPr lang="en-US" sz="980" dirty="0"/>
          </a:p>
        </p:txBody>
      </p:sp>
      <p:sp>
        <p:nvSpPr>
          <p:cNvPr id="26" name="Shape 20"/>
          <p:cNvSpPr/>
          <p:nvPr/>
        </p:nvSpPr>
        <p:spPr>
          <a:xfrm>
            <a:off x="8759952" y="3063240"/>
            <a:ext cx="777240" cy="777240"/>
          </a:xfrm>
          <a:prstGeom prst="ellipse">
            <a:avLst/>
          </a:prstGeom>
          <a:solidFill>
            <a:srgbClr val="0B4640"/>
          </a:solidFill>
          <a:ln w="38100">
            <a:solidFill>
              <a:srgbClr val="FBFAF7"/>
            </a:solidFill>
            <a:prstDash val="solid"/>
          </a:ln>
        </p:spPr>
      </p:sp>
      <p:pic>
        <p:nvPicPr>
          <p:cNvPr id="27" name="Image 4" descr="/home/claude/icons/visualiz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6490" y="3249778"/>
            <a:ext cx="404165" cy="40416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81160" y="295351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8257032" y="40416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8119872" y="4572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dashboard.</a:t>
            </a:r>
            <a:endParaRPr lang="en-US" sz="980" dirty="0"/>
          </a:p>
        </p:txBody>
      </p:sp>
      <p:sp>
        <p:nvSpPr>
          <p:cNvPr id="31" name="Shape 24"/>
          <p:cNvSpPr/>
          <p:nvPr/>
        </p:nvSpPr>
        <p:spPr>
          <a:xfrm>
            <a:off x="10789920" y="3063240"/>
            <a:ext cx="777240" cy="777240"/>
          </a:xfrm>
          <a:prstGeom prst="ellipse">
            <a:avLst/>
          </a:prstGeom>
          <a:solidFill>
            <a:srgbClr val="F2994A"/>
          </a:solidFill>
          <a:ln w="38100">
            <a:solidFill>
              <a:srgbClr val="FBFAF7"/>
            </a:solidFill>
            <a:prstDash val="solid"/>
          </a:ln>
        </p:spPr>
      </p:sp>
      <p:pic>
        <p:nvPicPr>
          <p:cNvPr id="32" name="Image 5" descr="/home/claude/icons/insigh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6458" y="3249778"/>
            <a:ext cx="404165" cy="40416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1311128" y="2953512"/>
            <a:ext cx="292608" cy="292608"/>
          </a:xfrm>
          <a:prstGeom prst="ellipse">
            <a:avLst/>
          </a:prstGeom>
          <a:solidFill>
            <a:srgbClr val="F2994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287000" y="40416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Reporting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0149840" y="457200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8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business recommendations.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640080" y="5806440"/>
            <a:ext cx="10927080" cy="685800"/>
          </a:xfrm>
          <a:prstGeom prst="roundRect">
            <a:avLst>
              <a:gd name="adj" fmla="val 9333"/>
            </a:avLst>
          </a:prstGeom>
          <a:solidFill>
            <a:srgbClr val="E7F1EF"/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82296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4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cleaned dataset  •  SQL query file  •  Python notebook  •  Power BI dashboard  •  project presentation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Process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was systematically audited and repaired in Excel and Python, with every fix tracked in a dedicated flag column rather than silently overwritten.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BF0E4"/>
          </a:solidFill>
          <a:ln w="12700">
            <a:solidFill>
              <a:srgbClr val="F0D9B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Raw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329184" cy="329184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8" name="Image 0" descr="/home/claude/icons/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8" y="2828788"/>
            <a:ext cx="158008" cy="1580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72491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prices and quantities on several rows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68680" y="3364992"/>
            <a:ext cx="329184" cy="329184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11" name="Image 1" descr="/home/claude/icons/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8" y="3450580"/>
            <a:ext cx="158008" cy="1580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346704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/ “Unknown Product” and “Unknown Category” entries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68680" y="3986784"/>
            <a:ext cx="329184" cy="329184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14" name="Image 2" descr="/home/claude/icons/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8" y="4072372"/>
            <a:ext cx="158008" cy="1580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968496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region casing (“south ” vs “South”) and category casing for “ electronics” vs  “Electronics” 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68680" y="4608576"/>
            <a:ext cx="329184" cy="329184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17" name="Image 3" descr="/home/claude/icons/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8" y="4694164"/>
            <a:ext cx="158008" cy="1580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590288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order dates; one order mis-dated into 2024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868680" y="5230368"/>
            <a:ext cx="329184" cy="329184"/>
          </a:xfrm>
          <a:prstGeom prst="ellipse">
            <a:avLst/>
          </a:prstGeom>
          <a:solidFill>
            <a:srgbClr val="D98E3F"/>
          </a:solidFill>
          <a:ln/>
        </p:spPr>
      </p:sp>
      <p:pic>
        <p:nvPicPr>
          <p:cNvPr id="20" name="Image 4" descr="/home/claude/icons/mis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268" y="5315956"/>
            <a:ext cx="158008" cy="1580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25880" y="52120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4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 rows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943600" y="201168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0B4640"/>
          </a:solidFill>
          <a:ln/>
        </p:spPr>
      </p:sp>
      <p:sp>
        <p:nvSpPr>
          <p:cNvPr id="23" name="Text 16"/>
          <p:cNvSpPr/>
          <p:nvPr/>
        </p:nvSpPr>
        <p:spPr>
          <a:xfrm>
            <a:off x="6172200" y="219456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Analysis-Ready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172200" y="2697480"/>
            <a:ext cx="310896" cy="310896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5" name="Image 5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033" y="2778313"/>
            <a:ext cx="149230" cy="14923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11112" y="2670048"/>
            <a:ext cx="4224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prices imputed with median values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172200" y="3259836"/>
            <a:ext cx="310896" cy="310896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8" name="Image 6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033" y="3340669"/>
            <a:ext cx="149230" cy="14923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611112" y="3232404"/>
            <a:ext cx="4224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imputed from the product’s most common category (mode)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6172200" y="3822192"/>
            <a:ext cx="310896" cy="310896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1" name="Image 7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033" y="3903025"/>
            <a:ext cx="149230" cy="14923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611112" y="3794760"/>
            <a:ext cx="4224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dates imputed with median; the 2024 date corrected to 2023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6172200" y="4384548"/>
            <a:ext cx="310896" cy="310896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4" name="Image 8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033" y="4465381"/>
            <a:ext cx="149230" cy="14923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611112" y="4357116"/>
            <a:ext cx="4224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text fields standardized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6172200" y="4946904"/>
            <a:ext cx="310896" cy="310896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7" name="Image 9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033" y="5027737"/>
            <a:ext cx="149230" cy="14923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611112" y="4919472"/>
            <a:ext cx="4224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removed before analysis</a:t>
            </a:r>
            <a:endParaRPr lang="en-US" sz="1100" dirty="0"/>
          </a:p>
        </p:txBody>
      </p:sp>
      <p:sp>
        <p:nvSpPr>
          <p:cNvPr id="39" name="Shape 27"/>
          <p:cNvSpPr/>
          <p:nvPr/>
        </p:nvSpPr>
        <p:spPr>
          <a:xfrm>
            <a:off x="6172200" y="5509260"/>
            <a:ext cx="310896" cy="310896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40" name="Image 10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3033" y="5590093"/>
            <a:ext cx="149230" cy="14923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6611112" y="5481828"/>
            <a:ext cx="42245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logged in Data_Quality_Flag, Quantity_Flag &amp; Price_Flag columns</a:t>
            </a:r>
            <a:endParaRPr lang="en-US" sz="1100" dirty="0"/>
          </a:p>
        </p:txBody>
      </p:sp>
      <p:sp>
        <p:nvSpPr>
          <p:cNvPr id="42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MySQL database (sales_project) was queried directly to extract business-ready aggregates — from simple filters to nested subqueries.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19456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B464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945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 by Region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263347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Region with SUM(Sales), ordered to surface the strongest markets.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44568" y="219456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B4640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21945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Products by Revenue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44568" y="263347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Product, ORDER BY revenue DESC, LIMIT 5.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19456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B4640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1945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3252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47888" y="263347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MONTH(Order_Date) to trace seasonal movement.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40080" y="36118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" y="379476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B464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7947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749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Orders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423367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orders above ₹50,000 to flag priority transactions.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4343400" y="36118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44568" y="379476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B4640"/>
          </a:solidFill>
          <a:ln/>
        </p:spPr>
      </p:sp>
      <p:sp>
        <p:nvSpPr>
          <p:cNvPr id="27" name="Text 25"/>
          <p:cNvSpPr/>
          <p:nvPr/>
        </p:nvSpPr>
        <p:spPr>
          <a:xfrm>
            <a:off x="4544568" y="37947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749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 Above ₹10L Revenue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44568" y="423367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SUM(Sales) &gt; 1,000,000 filters post-aggregation.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046720" y="36118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3794760"/>
            <a:ext cx="384048" cy="292608"/>
          </a:xfrm>
          <a:prstGeom prst="roundRect">
            <a:avLst>
              <a:gd name="adj" fmla="val 15625"/>
            </a:avLst>
          </a:prstGeom>
          <a:solidFill>
            <a:srgbClr val="0B4640"/>
          </a:solidFill>
          <a:ln/>
        </p:spPr>
      </p:sp>
      <p:sp>
        <p:nvSpPr>
          <p:cNvPr id="32" name="Text 30"/>
          <p:cNvSpPr/>
          <p:nvPr/>
        </p:nvSpPr>
        <p:spPr>
          <a:xfrm>
            <a:off x="8247888" y="3794760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3749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Above-Average Order Value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47888" y="4233672"/>
            <a:ext cx="31181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 compares each order to AVG(Sales).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92608" cy="29260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6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58" y="1996318"/>
            <a:ext cx="140452" cy="1404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8928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cleaned dataset (249 rows × 15 columns)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450592"/>
            <a:ext cx="292608" cy="29260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9" name="Image 1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58" y="2526670"/>
            <a:ext cx="140452" cy="1404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2416" y="2423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duplicate rows; fill residual quality flags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2980944"/>
            <a:ext cx="292608" cy="29260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2" name="Image 2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58" y="3057022"/>
            <a:ext cx="140452" cy="1404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2416" y="2953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missing categories via product-level mode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3511296"/>
            <a:ext cx="292608" cy="29260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5" name="Image 3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58" y="3587374"/>
            <a:ext cx="140452" cy="1404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42416" y="348386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Region, Category, Product &amp; Month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4041648"/>
            <a:ext cx="292608" cy="29260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8" name="Image 4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58" y="4117726"/>
            <a:ext cx="140452" cy="14045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42416" y="40142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results with Matplotlib &amp; Seaborn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40080" y="4709160"/>
            <a:ext cx="4617720" cy="1600200"/>
          </a:xfrm>
          <a:prstGeom prst="roundRect">
            <a:avLst>
              <a:gd name="adj" fmla="val 4571"/>
            </a:avLst>
          </a:prstGeom>
          <a:solidFill>
            <a:srgbClr val="E7F1EF"/>
          </a:solidFill>
          <a:ln w="12700">
            <a:solidFill>
              <a:srgbClr val="D6E9E5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68680" y="4864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(validated)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68680" y="5120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₹8,779,000</a:t>
            </a:r>
            <a:endParaRPr lang="en-US" sz="2700" dirty="0"/>
          </a:p>
        </p:txBody>
      </p:sp>
      <p:sp>
        <p:nvSpPr>
          <p:cNvPr id="23" name="Text 16"/>
          <p:cNvSpPr/>
          <p:nvPr/>
        </p:nvSpPr>
        <p:spPr>
          <a:xfrm>
            <a:off x="868680" y="5669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249 orders, 720 total units — cross-checked against the SQL aggregates.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5532120" y="1508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Sales by Region</a:t>
            </a:r>
            <a:endParaRPr lang="en-US" sz="14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5532120" y="1874520"/>
          <a:ext cx="59893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 18"/>
          <p:cNvSpPr/>
          <p:nvPr/>
        </p:nvSpPr>
        <p:spPr>
          <a:xfrm>
            <a:off x="5532120" y="393192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Share by Category</a:t>
            </a:r>
            <a:endParaRPr lang="en-US" sz="140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5532120" y="4251960"/>
          <a:ext cx="28346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Shape 19"/>
          <p:cNvSpPr/>
          <p:nvPr/>
        </p:nvSpPr>
        <p:spPr>
          <a:xfrm>
            <a:off x="8549640" y="4434840"/>
            <a:ext cx="146304" cy="146304"/>
          </a:xfrm>
          <a:prstGeom prst="ellipse">
            <a:avLst/>
          </a:prstGeom>
          <a:solidFill>
            <a:srgbClr val="0B4640"/>
          </a:solidFill>
          <a:ln/>
        </p:spPr>
      </p:sp>
      <p:sp>
        <p:nvSpPr>
          <p:cNvPr id="29" name="Text 20"/>
          <p:cNvSpPr/>
          <p:nvPr/>
        </p:nvSpPr>
        <p:spPr>
          <a:xfrm>
            <a:off x="8796528" y="4379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— 62.2%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8549640" y="4937760"/>
            <a:ext cx="146304" cy="146304"/>
          </a:xfrm>
          <a:prstGeom prst="ellipse">
            <a:avLst/>
          </a:prstGeom>
          <a:solidFill>
            <a:srgbClr val="3E8C81"/>
          </a:solidFill>
          <a:ln/>
        </p:spPr>
      </p:sp>
      <p:sp>
        <p:nvSpPr>
          <p:cNvPr id="31" name="Text 22"/>
          <p:cNvSpPr/>
          <p:nvPr/>
        </p:nvSpPr>
        <p:spPr>
          <a:xfrm>
            <a:off x="8796528" y="488289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— 33.7%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8549640" y="5440680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3" name="Text 24"/>
          <p:cNvSpPr/>
          <p:nvPr/>
        </p:nvSpPr>
        <p:spPr>
          <a:xfrm>
            <a:off x="8796528" y="53858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4.1%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4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interactive report page delivers KPIs, trend charts, and drill-down filters for stakeholders.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0E585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671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/home/claude/icons/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2860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08483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₹8,779,000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29000" y="19659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0E5850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1671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2" name="Image 1" descr="/home/claude/icons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2860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06240" y="208483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720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20624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 SOLD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17920" y="19659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0E5850"/>
          </a:solidFill>
          <a:ln/>
        </p:spPr>
      </p:sp>
      <p:sp>
        <p:nvSpPr>
          <p:cNvPr id="16" name="Shape 12"/>
          <p:cNvSpPr/>
          <p:nvPr/>
        </p:nvSpPr>
        <p:spPr>
          <a:xfrm>
            <a:off x="6400800" y="21671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7" name="Image 2" descr="/home/claude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28600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95160" y="208483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249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99516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9006840" y="19659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0E5850"/>
          </a:solidFill>
          <a:ln/>
        </p:spPr>
      </p:sp>
      <p:sp>
        <p:nvSpPr>
          <p:cNvPr id="21" name="Shape 16"/>
          <p:cNvSpPr/>
          <p:nvPr/>
        </p:nvSpPr>
        <p:spPr>
          <a:xfrm>
            <a:off x="9189720" y="216712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2" name="Image 3" descr="/home/claude/icons/ga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228600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84080" y="208483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₹35,257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784080" y="25146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Components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40080" y="3840480"/>
            <a:ext cx="2280514" cy="402336"/>
          </a:xfrm>
          <a:prstGeom prst="roundRect">
            <a:avLst>
              <a:gd name="adj" fmla="val 50000"/>
            </a:avLst>
          </a:prstGeom>
          <a:solidFill>
            <a:srgbClr val="16564D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3840480"/>
            <a:ext cx="228051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— Sales by Region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085186" y="3840480"/>
            <a:ext cx="2205533" cy="402336"/>
          </a:xfrm>
          <a:prstGeom prst="roundRect">
            <a:avLst>
              <a:gd name="adj" fmla="val 50000"/>
            </a:avLst>
          </a:prstGeom>
          <a:solidFill>
            <a:srgbClr val="16564D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085186" y="3840480"/>
            <a:ext cx="220553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Monthly Trend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5455310" y="3840480"/>
            <a:ext cx="2205533" cy="402336"/>
          </a:xfrm>
          <a:prstGeom prst="roundRect">
            <a:avLst>
              <a:gd name="adj" fmla="val 50000"/>
            </a:avLst>
          </a:prstGeom>
          <a:solidFill>
            <a:srgbClr val="16564D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455310" y="3840480"/>
            <a:ext cx="220553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— Category Share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7825435" y="3840480"/>
            <a:ext cx="2280514" cy="402336"/>
          </a:xfrm>
          <a:prstGeom prst="roundRect">
            <a:avLst>
              <a:gd name="adj" fmla="val 50000"/>
            </a:avLst>
          </a:prstGeom>
          <a:solidFill>
            <a:srgbClr val="16564D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825435" y="3840480"/>
            <a:ext cx="228051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— Region × Category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40080" y="4343400"/>
            <a:ext cx="3105302" cy="402336"/>
          </a:xfrm>
          <a:prstGeom prst="roundRect">
            <a:avLst>
              <a:gd name="adj" fmla="val 50000"/>
            </a:avLst>
          </a:prstGeom>
          <a:solidFill>
            <a:srgbClr val="16564D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0080" y="4343400"/>
            <a:ext cx="310530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— Quarterly Sales &amp; Quantity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3909974" y="4343400"/>
            <a:ext cx="3180283" cy="402336"/>
          </a:xfrm>
          <a:prstGeom prst="roundRect">
            <a:avLst>
              <a:gd name="adj" fmla="val 50000"/>
            </a:avLst>
          </a:prstGeom>
          <a:solidFill>
            <a:srgbClr val="16564D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909974" y="4343400"/>
            <a:ext cx="3180283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Top Products &amp; Customers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7254850" y="4343400"/>
            <a:ext cx="2655418" cy="402336"/>
          </a:xfrm>
          <a:prstGeom prst="roundRect">
            <a:avLst>
              <a:gd name="adj" fmla="val 50000"/>
            </a:avLst>
          </a:prstGeom>
          <a:solidFill>
            <a:srgbClr val="16564D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254850" y="4343400"/>
            <a:ext cx="265541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— Year, Region, Category</a:t>
            </a:r>
            <a:endParaRPr lang="en-US" sz="1050" dirty="0"/>
          </a:p>
        </p:txBody>
      </p:sp>
      <p:sp>
        <p:nvSpPr>
          <p:cNvPr id="40" name="Shape 34"/>
          <p:cNvSpPr/>
          <p:nvPr/>
        </p:nvSpPr>
        <p:spPr>
          <a:xfrm>
            <a:off x="640080" y="5989320"/>
            <a:ext cx="10927080" cy="548640"/>
          </a:xfrm>
          <a:prstGeom prst="roundRect">
            <a:avLst>
              <a:gd name="adj" fmla="val 10000"/>
            </a:avLst>
          </a:prstGeom>
          <a:ln w="12700">
            <a:solidFill>
              <a:srgbClr val="2F6E64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C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 star-schema model with DAX measures (SUM, CALCULATE) driving every card and chart.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88900" dist="25400" dir="5400000" algn="bl" rotWithShape="0">
              <a:srgbClr val="1B2E2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6" name="Image 0" descr="/home/claude/icons/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13" y="20036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0" y="1801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40.5%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96112" y="2514600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Leads Regional Sales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297180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generated ₹3,558,000 (40.5% of total revenue) — the strongest of all four regions, ahead of East (₹2,717,000).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88900" dist="25400" dir="5400000" algn="bl" rotWithShape="0">
              <a:srgbClr val="1B2E2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1856232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2" name="Image 1" descr="/home/claude/icons/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2003633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0" y="1801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₹1.72M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473952" y="2514600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June Is the Peak Month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73952" y="297180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peaked in June at ₹1,720,000 — nearly double the next-highest month, indicating a strong mid-year demand spike.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2062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88900" dist="25400" dir="5400000" algn="bl" rotWithShape="0">
              <a:srgbClr val="1B2E29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462272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18" name="Image 2" descr="/home/claude/icons/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513" y="46096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97680" y="44074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₹2.14M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96112" y="5120640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Laptops Drive Product Revenue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96112" y="557784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top the product list at ₹2,140,000, followed closely by Monitors (₹1,960,000) — together nearly half of all product revenue.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17920" y="420624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9E6"/>
            </a:solidFill>
            <a:prstDash val="solid"/>
          </a:ln>
          <a:effectLst>
            <a:outerShdw blurRad="88900" dist="25400" dir="5400000" algn="bl" rotWithShape="0">
              <a:srgbClr val="1B2E29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73952" y="4462272"/>
            <a:ext cx="566928" cy="566928"/>
          </a:xfrm>
          <a:prstGeom prst="ellipse">
            <a:avLst/>
          </a:prstGeom>
          <a:solidFill>
            <a:srgbClr val="0B4640"/>
          </a:solidFill>
          <a:ln/>
        </p:spPr>
      </p:sp>
      <p:pic>
        <p:nvPicPr>
          <p:cNvPr id="24" name="Image 3" descr="/home/claude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353" y="4609673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75520" y="44074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62.2%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6473952" y="5120640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6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Dominates Category Mix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6473952" y="557784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accounts for 62.2% of total sales (₹5,463,000), far ahead of Accessories at 33.7% — a clear category concentration.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46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389120"/>
            <a:ext cx="5029200" cy="5029200"/>
          </a:xfrm>
          <a:prstGeom prst="ellipse">
            <a:avLst/>
          </a:prstGeom>
          <a:solidFill>
            <a:srgbClr val="0E585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Roadmap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27080" cy="960120"/>
          </a:xfrm>
          <a:prstGeom prst="roundRect">
            <a:avLst>
              <a:gd name="adj" fmla="val 6667"/>
            </a:avLst>
          </a:prstGeom>
          <a:solidFill>
            <a:srgbClr val="0E58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4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the ability to transform raw, inconsistent data into actionable insight — using Excel, SQL, Python and Power BI as one connected pipeline, end to end.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Takeaways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319272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9125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enable faster, more confident business decisions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96512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6849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cleaning simplifies even messy, inconsistent stakeholder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873752"/>
            <a:ext cx="91440" cy="9144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45736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9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analytics workflow demonstrates end-to-end competency — from raw file to dashboard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80760" y="27432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80760" y="3246120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0F5850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415284"/>
            <a:ext cx="530352" cy="53035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7" name="Image 0" descr="/home/claude/icons/arrow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553176"/>
            <a:ext cx="254569" cy="25456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4944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Data Integration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949440" y="36484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data sources for always-current reporting.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80760" y="4270248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0F5850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63640" y="4439412"/>
            <a:ext cx="530352" cy="53035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2" name="Image 1" descr="/home/claude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577304"/>
            <a:ext cx="254569" cy="25456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49440" y="43616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949440" y="467258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ML models to forecast future sales trends.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080760" y="5294376"/>
            <a:ext cx="5486400" cy="868680"/>
          </a:xfrm>
          <a:prstGeom prst="roundRect">
            <a:avLst>
              <a:gd name="adj" fmla="val 7368"/>
            </a:avLst>
          </a:prstGeom>
          <a:solidFill>
            <a:srgbClr val="0F5850"/>
          </a:solidFill>
          <a:ln w="12700">
            <a:solidFill>
              <a:srgbClr val="2F6E64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263640" y="5463540"/>
            <a:ext cx="530352" cy="530352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7" name="Image 2" descr="/home/claude/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601432"/>
            <a:ext cx="254569" cy="25456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49440" y="53858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Enhanced KPIs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6949440" y="56967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B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dashboard with profit margin, retention &amp; CLV metrics.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B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1166</Words>
  <Application>Microsoft Office PowerPoint</Application>
  <PresentationFormat>Widescreen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Monish Madhu</cp:lastModifiedBy>
  <cp:revision>5</cp:revision>
  <dcterms:created xsi:type="dcterms:W3CDTF">2026-07-11T09:37:58Z</dcterms:created>
  <dcterms:modified xsi:type="dcterms:W3CDTF">2026-07-23T06:21:46Z</dcterms:modified>
</cp:coreProperties>
</file>